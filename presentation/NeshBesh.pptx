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7000" b="1" i="0">
                <a:solidFill>
                  <a:srgbClr val="359BF0"/>
                </a:solidFill>
                <a:latin typeface="Arial"/>
              </a:rPr>
              <a:t>Nesh</a:t>
            </a:r>
            <a:r>
              <a:rPr sz="7000" b="1" i="0">
                <a:solidFill>
                  <a:srgbClr val="2ECC71"/>
                </a:solidFill>
                <a:latin typeface="Arial"/>
              </a:rPr>
              <a:t>Besh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A9B8CC"/>
                </a:solidFill>
                <a:latin typeface="Arial"/>
              </a:rPr>
              <a:t>גרסה דיגיטלית למשחק השש־בש המשפחתי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2468880"/>
            <a:ext cx="6976872" cy="3657600"/>
          </a:xfrm>
          <a:prstGeom prst="roundRect">
            <a:avLst/>
          </a:prstGeom>
          <a:solidFill>
            <a:srgbClr val="0A1422"/>
          </a:solidFill>
          <a:ln w="381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70632" y="2633472"/>
            <a:ext cx="6647688" cy="3328416"/>
          </a:xfrm>
          <a:prstGeom prst="rect">
            <a:avLst/>
          </a:prstGeom>
          <a:solidFill>
            <a:srgbClr val="12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2452" y="2633472"/>
            <a:ext cx="384048" cy="3328416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77063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77063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29260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29260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81457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81457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33654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33654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5851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85851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380482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380482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28650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28650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80847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80847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33044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33044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85241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85241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37438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37438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896350" y="2633472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0"/>
                </a:moveTo>
                <a:lnTo>
                  <a:pt x="521970" y="0"/>
                </a:lnTo>
                <a:lnTo>
                  <a:pt x="260985" y="1397934"/>
                </a:lnTo>
                <a:close/>
              </a:path>
            </a:pathLst>
          </a:custGeom>
          <a:solidFill>
            <a:srgbClr val="2ECC71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896350" y="4563954"/>
            <a:ext cx="521970" cy="1397934"/>
          </a:xfrm>
          <a:custGeom>
            <a:avLst/>
            <a:gdLst/>
            <a:ahLst/>
            <a:cxnLst/>
            <a:rect l="l" t="t" r="r" b="b"/>
            <a:pathLst>
              <a:path w="521970" h="1397934">
                <a:moveTo>
                  <a:pt x="0" y="1397934"/>
                </a:moveTo>
                <a:lnTo>
                  <a:pt x="521970" y="1397934"/>
                </a:lnTo>
                <a:lnTo>
                  <a:pt x="260985" y="0"/>
                </a:lnTo>
                <a:close/>
              </a:path>
            </a:pathLst>
          </a:custGeom>
          <a:solidFill>
            <a:srgbClr val="359BF0"/>
          </a:solidFill>
          <a:ln w="9525">
            <a:solidFill>
              <a:srgbClr val="0A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28049" y="2674185"/>
            <a:ext cx="407136" cy="407136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28049" y="3060964"/>
            <a:ext cx="407136" cy="407136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28049" y="3447744"/>
            <a:ext cx="407136" cy="407136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53767" y="5514038"/>
            <a:ext cx="407136" cy="407136"/>
          </a:xfrm>
          <a:prstGeom prst="ellipse">
            <a:avLst/>
          </a:prstGeom>
          <a:solidFill>
            <a:srgbClr val="222A38"/>
          </a:solidFill>
          <a:ln w="1270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53767" y="5127259"/>
            <a:ext cx="407136" cy="407136"/>
          </a:xfrm>
          <a:prstGeom prst="ellipse">
            <a:avLst/>
          </a:prstGeom>
          <a:solidFill>
            <a:srgbClr val="222A38"/>
          </a:solidFill>
          <a:ln w="1270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02452" y="4041648"/>
            <a:ext cx="502920" cy="50292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08076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A9B8CC"/>
                </a:solidFill>
                <a:latin typeface="Arial"/>
              </a:rPr>
              <a:t>פרויקט בקורס מבני נתונים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היסטוריית המשחק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800"/>
              </a:spcAft>
            </a:pPr>
            <a:r>
              <a:rPr sz="2200" b="1" i="0">
                <a:solidFill>
                  <a:srgbClr val="F2F5FA"/>
                </a:solidFill>
                <a:latin typeface="Arial"/>
              </a:rPr>
              <a:t>שש־בש הוא משחק לוח עתיק, אך נֶשבֶש הוא וריאציה ייחודית משלו.</a:t>
            </a:r>
          </a:p>
          <a:p>
            <a:pPr algn="r" rtl="1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A9B8CC"/>
                </a:solidFill>
                <a:latin typeface="Arial"/>
              </a:rPr>
              <a:t>הגרסה הנוכחית של המשחק הומצאה לפני למעלה מעשור, על ידיי ועל ידי חבר טוב שלי – נֶש, שעל שמו נקרא המשחק.</a:t>
            </a:r>
          </a:p>
          <a:p>
            <a:pPr algn="r" rtl="1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A9B8CC"/>
                </a:solidFill>
                <a:latin typeface="Arial"/>
              </a:rPr>
              <a:t>פיתחנו יחד מערכת חוקים ייחודית של “הטלות מיוחדות” המוסיפות דרמה, טקטיקה והפתעות מעבר לשש־בש הקלאסי.</a:t>
            </a:r>
          </a:p>
          <a:p>
            <a:pPr algn="r" rtl="1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A9B8CC"/>
                </a:solidFill>
                <a:latin typeface="Arial"/>
              </a:rPr>
              <a:t>המשחק הופץ מפה לאוזן בין חברים וזכה להצלחה מסחררת – וכך נולד הרעיון להפוך אותו לאפליקציה דיגיטלית שכולם יוכלו לשחק בה.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F1C40F"/>
                </a:solidFill>
                <a:latin typeface="Arial"/>
              </a:rPr>
              <a:t>“ממשחק שולחן בין חברים – לאפליקציה.”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חוקי המשחק הכלליים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0935" y="1783080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מבנה הלוח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מערך של 26 תאים; 0 ו־25 הם ה“בר”. ערך חיובי = לבן, שלילי = שחור.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מערכת 2 קליקים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קליק ראשון מסמן יעדים: כחול = ביניים, ירוק = יעד סופי.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נגעת – נסעת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לאחר הקליק השני המהלך סופי. אין ביטול.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דאבל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דאבל רגיל מעניק תור נוסף אוטומטי.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הטלת פתיחה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כל שחקן מטיל קובייה אחת; הגבוה מתחיל ומשחק את שתי הקוביות.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3 דאבלים ברצף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“היפוך השולחן” – התור מסתיים מיד ועובר ליריב.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ניקוד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פשוט = 1, מארס = 2, מארס טורקי = 3.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מארס כוכב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ניצחון אליפות מיידי!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800" b="1" i="0">
                <a:solidFill>
                  <a:srgbClr val="F2F5FA"/>
                </a:solidFill>
                <a:latin typeface="Arial"/>
              </a:rPr>
              <a:t>מבנה טורניר</a:t>
            </a:r>
            <a:r>
              <a:rPr sz="1800" b="0" i="0">
                <a:solidFill>
                  <a:srgbClr val="A9B8CC"/>
                </a:solidFill>
                <a:latin typeface="Arial"/>
              </a:rPr>
              <a:t> — ראשון ל־3 סטים; כל סט ראשון ל־3 נקודות.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ההטלות המיוחדות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4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6040" cy="109728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59BF0"/>
                </a:solidFill>
                <a:latin typeface="Arial"/>
              </a:rPr>
              <a:t>1 : 2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דילוג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התור מסתיים מיד.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828800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1828800"/>
            <a:ext cx="260604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299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ECC71"/>
                </a:solidFill>
                <a:latin typeface="Arial"/>
              </a:rPr>
              <a:t>4 : 5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בחירת דאבל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השחקן בוחר כל דאבל לשחק.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28800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828800"/>
            <a:ext cx="2606040" cy="109728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0299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1C40F"/>
                </a:solidFill>
                <a:latin typeface="Arial"/>
              </a:rPr>
              <a:t>6 : 5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מכת הנֶש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כל ה“בלוטים” של היריב עפים לבר + 2 מהלכים חופשיים.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828800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1976" y="1828800"/>
            <a:ext cx="2606040" cy="109728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2029968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59BF0"/>
                </a:solidFill>
                <a:latin typeface="Arial"/>
              </a:rPr>
              <a:t>6 : 3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החלפה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לשחק 6:3 או לזרוק מחדש.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05072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05072"/>
            <a:ext cx="260604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ECC71"/>
                </a:solidFill>
                <a:latin typeface="Arial"/>
              </a:rPr>
              <a:t>5 : 2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אחורה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מזיזים 5 ו־2 (או 7) לאחור.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4005072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0712" y="4005072"/>
            <a:ext cx="2606040" cy="109728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4206240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59BF0"/>
                </a:solidFill>
                <a:latin typeface="Arial"/>
              </a:rPr>
              <a:t>4 : 3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טריגר ידני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מטילים קובייה אחת = מספר הצעדים אחורה.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005072"/>
            <a:ext cx="2606040" cy="2011680"/>
          </a:xfrm>
          <a:prstGeom prst="roundRect">
            <a:avLst/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4005072"/>
            <a:ext cx="260604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4206240"/>
            <a:ext cx="2423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ECC71"/>
                </a:solidFill>
                <a:latin typeface="Arial"/>
              </a:rPr>
              <a:t>5 : 1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A"/>
                </a:solidFill>
                <a:latin typeface="Arial"/>
              </a:rPr>
              <a:t>ארבעה מהלכים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8CC"/>
                </a:solidFill>
                <a:latin typeface="Arial"/>
              </a:rPr>
              <a:t>מטילים קובייה; התוצאה d מזכה ב־4 מהלכים בערך 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מבנה ואדריכלות 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0935" y="1783080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מבני נתונים בליבה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מערך number[26]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ייצוג הלוח כולו במערך יחיד – הבר בקצוות.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מנוע חישוב מהלכים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אלגוריתם המחשב את כל המסלולים האפשריים מהקוביות.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מכונת מצבים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ניהול תור, הטלות מיוחדות ומעברי מצב.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ניהול מצב – Zustand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Store יחיד כמקור אמת לכל נתוני המשחק.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359BF0"/>
                </a:solidFill>
                <a:latin typeface="Arial"/>
              </a:rPr>
              <a:t>טכנולוגיות וכלים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359BF0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React Native + Expo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אפליקציה חוצת־פלטפורמות ב־TypeScript.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359BF0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Reanimated / Moti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אנימציות אכילה, היפוך שולחן וקוביות.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359BF0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Firebase RTDB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ריבוי משתתפים בארכיטקטורת Host־Authoritative.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359BF0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expo-linking + QR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קישורי הצטרפות עמוקים וסריקת קוד.</a:t>
            </a:r>
          </a:p>
          <a:p>
            <a:pPr algn="r" rtl="1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359BF0"/>
                </a:solidFill>
                <a:latin typeface="Arial"/>
              </a:rPr>
              <a:t>●  </a:t>
            </a:r>
            <a:r>
              <a:rPr sz="1700" b="1" i="0">
                <a:solidFill>
                  <a:srgbClr val="F2F5FA"/>
                </a:solidFill>
                <a:latin typeface="Arial"/>
              </a:rPr>
              <a:t>Vercel</a:t>
            </a:r>
            <a:r>
              <a:rPr sz="1700" b="0" i="0">
                <a:solidFill>
                  <a:srgbClr val="A9B8CC"/>
                </a:solidFill>
                <a:latin typeface="Arial"/>
              </a:rPr>
              <a:t> — פריסת גרסת הווב לשחקנים ללא התקנה.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פיתוח בעזרת כלי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2F5FA"/>
                </a:solidFill>
                <a:latin typeface="Arial"/>
              </a:rPr>
              <a:t>הפרויקט פותח כמעט כולו בשיתוף פעולה עם כלי בינה מלאכותית: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3383280" cy="3291840"/>
          </a:xfrm>
          <a:prstGeom prst="roundRect">
            <a:avLst/>
          </a:prstGeom>
          <a:solidFill>
            <a:srgbClr val="16263D"/>
          </a:solidFill>
          <a:ln w="19050">
            <a:solidFill>
              <a:srgbClr val="359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3383280" cy="45720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1B2D"/>
                </a:solidFill>
                <a:latin typeface="Arial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29260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מנוע הפיתוח המרכזי – לוגיקת המשחק, החוקים, הארכיטקטורה והקוד.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383280" cy="3291840"/>
          </a:xfrm>
          <a:prstGeom prst="roundRect">
            <a:avLst/>
          </a:prstGeom>
          <a:solidFill>
            <a:srgbClr val="16263D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14600"/>
            <a:ext cx="3383280" cy="4572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1B2D"/>
                </a:solidFill>
                <a:latin typeface="Arial"/>
              </a:rP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29260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סיוע ברעיונות, מחקר, ניסוח חוקים ופתרון בעיות.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514600"/>
            <a:ext cx="3383280" cy="3291840"/>
          </a:xfrm>
          <a:prstGeom prst="roundRect">
            <a:avLst/>
          </a:prstGeom>
          <a:solidFill>
            <a:srgbClr val="16263D"/>
          </a:solidFill>
          <a:ln w="1905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3383280" cy="45720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560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1B2D"/>
                </a:solidFill>
                <a:latin typeface="Arial"/>
              </a:rPr>
              <a:t>THE BIG 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37560"/>
            <a:ext cx="29260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A9B8CC"/>
                </a:solidFill>
                <a:latin typeface="Arial"/>
              </a:rPr>
              <a:t>הבוט הייעודי של הקורס – ליווי וייעוץ במבני נתונים ואלגוריתמים.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146304" cy="868680"/>
          </a:xfrm>
          <a:prstGeom prst="rect">
            <a:avLst/>
          </a:prstGeom>
          <a:solidFill>
            <a:srgbClr val="35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2F5FA"/>
                </a:solidFill>
                <a:latin typeface="Arial"/>
              </a:rPr>
              <a:t>המשך הפרויקט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9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A9B8CC"/>
                </a:solidFill>
                <a:latin typeface="Arial"/>
              </a:rPr>
              <a:t>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2000" b="1" i="0">
                <a:solidFill>
                  <a:srgbClr val="F2F5FA"/>
                </a:solidFill>
                <a:latin typeface="Arial"/>
              </a:rPr>
              <a:t>שיפור הממשק והעיצוב</a:t>
            </a:r>
            <a:r>
              <a:rPr sz="2000" b="0" i="0">
                <a:solidFill>
                  <a:srgbClr val="A9B8CC"/>
                </a:solidFill>
                <a:latin typeface="Arial"/>
              </a:rPr>
              <a:t> — ליטוש חוויית המשתמש, אנימציות ועיצוב לוח מוקפד יותר.</a:t>
            </a:r>
          </a:p>
          <a:p>
            <a:pPr algn="r" rt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2000" b="1" i="0">
                <a:solidFill>
                  <a:srgbClr val="F2F5FA"/>
                </a:solidFill>
                <a:latin typeface="Arial"/>
              </a:rPr>
              <a:t>תיקון באגים</a:t>
            </a:r>
            <a:r>
              <a:rPr sz="2000" b="0" i="0">
                <a:solidFill>
                  <a:srgbClr val="A9B8CC"/>
                </a:solidFill>
                <a:latin typeface="Arial"/>
              </a:rPr>
              <a:t> — איתון ותיקון תקלות בניסוי וטעייה לאורך המון משחקים אמיתיים.</a:t>
            </a:r>
          </a:p>
          <a:p>
            <a:pPr algn="r" rt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2000" b="1" i="0">
                <a:solidFill>
                  <a:srgbClr val="F2F5FA"/>
                </a:solidFill>
                <a:latin typeface="Arial"/>
              </a:rPr>
              <a:t>אפשרויות שיתוף נוספות</a:t>
            </a:r>
            <a:r>
              <a:rPr sz="2000" b="0" i="0">
                <a:solidFill>
                  <a:srgbClr val="A9B8CC"/>
                </a:solidFill>
                <a:latin typeface="Arial"/>
              </a:rPr>
              <a:t> — דרכים קלות יותר להזמין חברים ולהצטרף למשחק.</a:t>
            </a:r>
          </a:p>
          <a:p>
            <a:pPr algn="r" rt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2000" b="1" i="0">
                <a:solidFill>
                  <a:srgbClr val="F2F5FA"/>
                </a:solidFill>
                <a:latin typeface="Arial"/>
              </a:rPr>
              <a:t>תכונות חדשות</a:t>
            </a:r>
            <a:r>
              <a:rPr sz="2000" b="0" i="0">
                <a:solidFill>
                  <a:srgbClr val="A9B8CC"/>
                </a:solidFill>
                <a:latin typeface="Arial"/>
              </a:rPr>
              <a:t> — מצבי משחק נוספים, סטטיסטיקות ושיפורי ריבוי משתתפים.</a:t>
            </a:r>
          </a:p>
          <a:p>
            <a:pPr algn="r" rtl="1">
              <a:spcBef>
                <a:spcPts val="0"/>
              </a:spcBef>
              <a:spcAft>
                <a:spcPts val="1600"/>
              </a:spcAft>
            </a:pPr>
            <a:r>
              <a:rPr sz="2000" b="1" i="0">
                <a:solidFill>
                  <a:srgbClr val="2ECC71"/>
                </a:solidFill>
                <a:latin typeface="Arial"/>
              </a:rPr>
              <a:t>●  </a:t>
            </a:r>
            <a:r>
              <a:rPr sz="2000" b="1" i="0">
                <a:solidFill>
                  <a:srgbClr val="F2F5FA"/>
                </a:solidFill>
                <a:latin typeface="Arial"/>
              </a:rPr>
              <a:t>נגישות וזמינות</a:t>
            </a:r>
            <a:r>
              <a:rPr sz="2000" b="0" i="0">
                <a:solidFill>
                  <a:srgbClr val="A9B8CC"/>
                </a:solidFill>
                <a:latin typeface="Arial"/>
              </a:rPr>
              <a:t> — הרחבת גרסת הווב כך שכל אחד יוכל לשחק מכל מכשיר.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359BF0"/>
                </a:solidFill>
                <a:latin typeface="Arial"/>
              </a:rPr>
              <a:t>Nesh</a:t>
            </a:r>
            <a:r>
              <a:rPr sz="4400" b="1" i="0">
                <a:solidFill>
                  <a:srgbClr val="2ECC71"/>
                </a:solidFill>
                <a:latin typeface="Arial"/>
              </a:rPr>
              <a:t>Besh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F2F5FA"/>
                </a:solidFill>
                <a:latin typeface="Arial"/>
              </a:rPr>
              <a:t>סרקו את הקוד והצטרפו למשחק!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487" y="2148840"/>
            <a:ext cx="3474720" cy="347472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neshb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233172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1C40F"/>
                </a:solidFill>
                <a:latin typeface="Arial"/>
              </a:rPr>
              <a:t>https://nesh-besh.vercel.app/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A9B8CC"/>
                </a:solidFill>
                <a:latin typeface="Arial"/>
              </a:rPr>
              <a:t>תודה רבה!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